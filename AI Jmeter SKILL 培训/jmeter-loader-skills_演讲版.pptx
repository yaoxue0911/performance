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68" r:id="rId3"/>
    <p:sldId id="267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20558" y="320040"/>
            <a:ext cx="8321040" cy="50292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jmeter-loader-skills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829118" y="841248"/>
            <a:ext cx="8503920" cy="27432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把人工编写 JMeter 脚本的关键步骤，总结为 SKILL。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94678" y="1874520"/>
            <a:ext cx="20574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6670">
            <a:solidFill>
              <a:srgbClr val="11111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414" y="1993392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5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448" y="2030730"/>
            <a:ext cx="365760" cy="36576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5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878" y="2039112"/>
            <a:ext cx="1143000" cy="31089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 fontScale="9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Fiddler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87870" y="2450592"/>
            <a:ext cx="1261872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1024446" y="2532888"/>
            <a:ext cx="1188720" cy="20116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 fontScale="80000"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抓包内容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46438" y="1572768"/>
            <a:ext cx="5623560" cy="1700784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27940">
            <a:solidFill>
              <a:srgbClr val="11111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5038" y="1783080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F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84182" y="1778508"/>
            <a:ext cx="365760" cy="36576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7D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913950" y="1920240"/>
            <a:ext cx="4343400" cy="42062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 fontScale="8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分析抓包  →  参数化  →  关联  →  组织脚本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822510" y="2450592"/>
            <a:ext cx="4498848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3703638" y="2578608"/>
            <a:ext cx="4754880" cy="25603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80" dirty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人工编写 JMeter 脚本时最关键的处理过程</a:t>
            </a:r>
            <a:endParaRPr lang="en-US" sz="1380" dirty="0"/>
          </a:p>
        </p:txBody>
      </p:sp>
      <p:sp>
        <p:nvSpPr>
          <p:cNvPr id="16" name="Shape 14"/>
          <p:cNvSpPr/>
          <p:nvPr/>
        </p:nvSpPr>
        <p:spPr>
          <a:xfrm>
            <a:off x="9491790" y="1874520"/>
            <a:ext cx="21031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6670">
            <a:solidFill>
              <a:srgbClr val="11111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564815" y="2000377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A3D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82849" y="2009775"/>
            <a:ext cx="365760" cy="36576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3D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894126" y="2029968"/>
            <a:ext cx="1508760" cy="32004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 fontScale="9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JMeter Script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9894126" y="2450592"/>
            <a:ext cx="132588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9948990" y="2542032"/>
            <a:ext cx="1261872" cy="20116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 fontScale="80000"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性能测试脚本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697798" y="2432304"/>
            <a:ext cx="484632" cy="0"/>
          </a:xfrm>
          <a:prstGeom prst="line">
            <a:avLst/>
          </a:prstGeom>
          <a:noFill/>
          <a:ln w="2794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924862" y="2432304"/>
            <a:ext cx="493776" cy="0"/>
          </a:xfrm>
          <a:prstGeom prst="line">
            <a:avLst/>
          </a:prstGeom>
          <a:noFill/>
          <a:ln w="2794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062790" y="3310128"/>
            <a:ext cx="0" cy="420624"/>
          </a:xfrm>
          <a:prstGeom prst="line">
            <a:avLst/>
          </a:prstGeom>
          <a:noFill/>
          <a:ln w="2667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069398" y="3840480"/>
            <a:ext cx="4005072" cy="1417320"/>
          </a:xfrm>
          <a:prstGeom prst="roundRect">
            <a:avLst>
              <a:gd name="adj" fmla="val 5161"/>
            </a:avLst>
          </a:prstGeom>
          <a:solidFill>
            <a:srgbClr val="FFF9F3"/>
          </a:solidFill>
          <a:ln w="27940">
            <a:solidFill>
              <a:srgbClr val="E36D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66678" y="4069080"/>
            <a:ext cx="1783080" cy="32918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 fontScale="8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36D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SKILL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4526598" y="4462272"/>
            <a:ext cx="3090672" cy="53035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2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将经验沉淀为可复用的 SKILL</a:t>
            </a:r>
            <a:endParaRPr lang="en-US" sz="1520" dirty="0"/>
          </a:p>
        </p:txBody>
      </p:sp>
      <p:sp>
        <p:nvSpPr>
          <p:cNvPr id="30" name="Text 28"/>
          <p:cNvSpPr/>
          <p:nvPr/>
        </p:nvSpPr>
        <p:spPr>
          <a:xfrm>
            <a:off x="1143318" y="6080760"/>
            <a:ext cx="9921240" cy="23774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 lnSpcReduction="20000"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从“人工分析抓包”到“Skill 驱动生成脚本”，核心变化是把经验标准化、结构化。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2972118" y="6382512"/>
            <a:ext cx="6263640" cy="0"/>
          </a:xfrm>
          <a:prstGeom prst="line">
            <a:avLst/>
          </a:prstGeom>
          <a:noFill/>
          <a:ln w="27940">
            <a:solidFill>
              <a:srgbClr val="7A3DF0"/>
            </a:solidFill>
            <a:prstDash val="solid"/>
            <a:tailEnd type="non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798" y="256032"/>
            <a:ext cx="11384280" cy="50292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JMeter 的树形结构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31838" y="804672"/>
            <a:ext cx="10789920" cy="29260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性能脚本按照树从上到下执行，子节点跟随父节点一起生效。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3238" y="1234440"/>
            <a:ext cx="7040880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2667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998" y="3328416"/>
            <a:ext cx="6309360" cy="34747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 fontScale="8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777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JMeter 截图放这里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318" y="3749040"/>
            <a:ext cx="5760720" cy="29260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建议放左侧 Test Plan 树形结构截图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909878" y="1234440"/>
            <a:ext cx="3794760" cy="507492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26670">
            <a:solidFill>
              <a:srgbClr val="11111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84198" y="1444752"/>
            <a:ext cx="3246120" cy="34747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怎么看这棵树？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184198" y="1883664"/>
            <a:ext cx="3246120" cy="1078992"/>
          </a:xfrm>
          <a:prstGeom prst="roundRect">
            <a:avLst>
              <a:gd name="adj" fmla="val 6780"/>
            </a:avLst>
          </a:prstGeom>
          <a:solidFill>
            <a:srgbClr val="F7F8FF"/>
          </a:solidFill>
          <a:ln w="15240">
            <a:solidFill>
              <a:srgbClr val="5B62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48790" y="2011680"/>
            <a:ext cx="2907792" cy="71323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42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Thread Group 控制并发用户、循环和持续时间；Controller 按业务流程把请求组织成一棵树。</a:t>
            </a:r>
            <a:endParaRPr lang="en-US" sz="1420" dirty="0"/>
          </a:p>
        </p:txBody>
      </p:sp>
      <p:sp>
        <p:nvSpPr>
          <p:cNvPr id="11" name="Shape 9"/>
          <p:cNvSpPr/>
          <p:nvPr/>
        </p:nvSpPr>
        <p:spPr>
          <a:xfrm>
            <a:off x="8184198" y="3136392"/>
            <a:ext cx="3246120" cy="1078992"/>
          </a:xfrm>
          <a:prstGeom prst="roundRect">
            <a:avLst>
              <a:gd name="adj" fmla="val 6780"/>
            </a:avLst>
          </a:prstGeom>
          <a:solidFill>
            <a:srgbClr val="FBF8FF"/>
          </a:solidFill>
          <a:ln w="15240">
            <a:solidFill>
              <a:srgbClr val="7A3D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8790" y="3264408"/>
            <a:ext cx="2907792" cy="73152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42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运行时通常从上到下执行；Request 下挂的 Header、Timer、Extractor 会作为子节点参与这次请求。</a:t>
            </a:r>
            <a:endParaRPr lang="en-US" sz="1420" dirty="0"/>
          </a:p>
        </p:txBody>
      </p:sp>
      <p:sp>
        <p:nvSpPr>
          <p:cNvPr id="13" name="Text 11"/>
          <p:cNvSpPr/>
          <p:nvPr/>
        </p:nvSpPr>
        <p:spPr>
          <a:xfrm>
            <a:off x="8367078" y="4315968"/>
            <a:ext cx="2834640" cy="219456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 fontScale="80000"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典型执行层级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549958" y="4718304"/>
            <a:ext cx="246888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20320">
            <a:solidFill>
              <a:srgbClr val="1E5B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23110" y="4718304"/>
            <a:ext cx="2322576" cy="329184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5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Thread Group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549958" y="5157216"/>
            <a:ext cx="246888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20320">
            <a:solidFill>
              <a:srgbClr val="2F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3110" y="5157216"/>
            <a:ext cx="2322576" cy="329184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F7D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Controller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549958" y="5596128"/>
            <a:ext cx="246888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20320">
            <a:solidFill>
              <a:srgbClr val="E36D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23110" y="5596128"/>
            <a:ext cx="2322576" cy="329184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E36D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HTTP Request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275638" y="6016752"/>
            <a:ext cx="868680" cy="237744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13970">
            <a:solidFill>
              <a:srgbClr val="7A3D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93926" y="6030468"/>
            <a:ext cx="832104" cy="13716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 fontScale="80000"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A3D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Header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299766" y="6016752"/>
            <a:ext cx="868680" cy="237744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13970">
            <a:solidFill>
              <a:srgbClr val="7A3D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18054" y="6030468"/>
            <a:ext cx="832104" cy="13716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 fontScale="80000"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A3D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Timer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0323894" y="6016752"/>
            <a:ext cx="868680" cy="237744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13970">
            <a:solidFill>
              <a:srgbClr val="7A3D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42182" y="6030468"/>
            <a:ext cx="832104" cy="13716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 fontScale="90000"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7A3D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Extractor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9784398" y="5047488"/>
            <a:ext cx="0" cy="109728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9784398" y="5486400"/>
            <a:ext cx="0" cy="109728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9784398" y="5925312"/>
            <a:ext cx="0" cy="9144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8622856" y="5990209"/>
            <a:ext cx="20574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8705406" y="6016752"/>
            <a:ext cx="0" cy="118872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9729534" y="6016752"/>
            <a:ext cx="0" cy="118872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10753662" y="6016752"/>
            <a:ext cx="0" cy="118872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tailEnd type="none"/>
          </a:ln>
        </p:spPr>
      </p:sp>
      <p:sp>
        <p:nvSpPr>
          <p:cNvPr id="33" name="Text 31"/>
          <p:cNvSpPr/>
          <p:nvPr/>
        </p:nvSpPr>
        <p:spPr>
          <a:xfrm>
            <a:off x="686118" y="6437376"/>
            <a:ext cx="10972800" cy="25603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父节点组织流程，子节点补充请求配置或提取变量。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3749358" y="6720840"/>
            <a:ext cx="4663440" cy="0"/>
          </a:xfrm>
          <a:prstGeom prst="line">
            <a:avLst/>
          </a:prstGeom>
          <a:noFill/>
          <a:ln w="27940">
            <a:solidFill>
              <a:srgbClr val="7A3DF0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11201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人工分析在分析什么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758952"/>
            <a:ext cx="10744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参数化与关联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5212080" cy="4315968"/>
          </a:xfrm>
          <a:prstGeom prst="roundRect">
            <a:avLst>
              <a:gd name="adj" fmla="val 1483"/>
            </a:avLst>
          </a:prstGeom>
          <a:solidFill>
            <a:srgbClr val="FFFFFF"/>
          </a:solidFill>
          <a:ln w="21590">
            <a:solidFill>
              <a:srgbClr val="2F62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82512" y="1417320"/>
            <a:ext cx="5212080" cy="4315968"/>
          </a:xfrm>
          <a:prstGeom prst="roundRect">
            <a:avLst>
              <a:gd name="adj" fmla="val 1483"/>
            </a:avLst>
          </a:prstGeom>
          <a:solidFill>
            <a:srgbClr val="FFFFFF"/>
          </a:solidFill>
          <a:ln w="21590">
            <a:solidFill>
              <a:srgbClr val="2F7D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50592" y="1645920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EFF4FF"/>
          </a:solidFill>
          <a:ln w="15240">
            <a:solidFill>
              <a:srgbClr val="2F6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05456" y="1709928"/>
            <a:ext cx="13075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62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参数化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302752" y="1645920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F2F8F2"/>
          </a:solidFill>
          <a:ln w="15240">
            <a:solidFill>
              <a:srgbClr val="2F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57616" y="1709928"/>
            <a:ext cx="121615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7D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关联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417320" y="2395728"/>
            <a:ext cx="3584448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3970">
            <a:solidFill>
              <a:srgbClr val="2F62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45336" y="2505456"/>
            <a:ext cx="3328416" cy="4023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case_id=12345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209544" y="3218688"/>
            <a:ext cx="0" cy="694944"/>
          </a:xfrm>
          <a:prstGeom prst="line">
            <a:avLst/>
          </a:prstGeom>
          <a:noFill/>
          <a:ln w="29210">
            <a:solidFill>
              <a:srgbClr val="2F62E8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417320" y="4133088"/>
            <a:ext cx="3584448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3970">
            <a:solidFill>
              <a:srgbClr val="6A35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45336" y="4242816"/>
            <a:ext cx="3328416" cy="4023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case_id=${case_id}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97280" y="5029200"/>
            <a:ext cx="4251960" cy="49377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把固定写死的数据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转换成运行时可变化的数据。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995160" y="2240280"/>
            <a:ext cx="187452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3970">
            <a:solidFill>
              <a:srgbClr val="2F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23176" y="2350008"/>
            <a:ext cx="1618488" cy="29260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GET Inbox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07424" y="2322576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Response 中提取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034272" y="2816352"/>
            <a:ext cx="1700784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3970">
            <a:solidFill>
              <a:srgbClr val="6A35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62288" y="2926080"/>
            <a:ext cx="1444752" cy="32918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11111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${case_id}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9884664" y="3511296"/>
            <a:ext cx="0" cy="530352"/>
          </a:xfrm>
          <a:prstGeom prst="line">
            <a:avLst/>
          </a:prstGeom>
          <a:noFill/>
          <a:ln w="27940">
            <a:solidFill>
              <a:srgbClr val="2F7D32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452360" y="4224528"/>
            <a:ext cx="3584448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3970">
            <a:solidFill>
              <a:srgbClr val="2F7D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0376" y="4334256"/>
            <a:ext cx="3328416" cy="65836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GET Case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case_id=${case_id}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58000" y="5230368"/>
            <a:ext cx="4251960" cy="45720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从前置请求提取动态值，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在后续请求中继续使用。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31520" y="6419088"/>
            <a:ext cx="10744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参数化解决“数据要变化”，关联解决“前后请求要传值”。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971800" y="6711696"/>
            <a:ext cx="6217920" cy="0"/>
          </a:xfrm>
          <a:prstGeom prst="line">
            <a:avLst/>
          </a:prstGeom>
          <a:noFill/>
          <a:ln w="20320">
            <a:solidFill>
              <a:srgbClr val="6A35D9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11201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人工分析在分析什么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758952"/>
            <a:ext cx="10744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传统 JMeter 脚本生成方式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216152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5240">
            <a:solidFill>
              <a:srgbClr val="2F6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280160"/>
            <a:ext cx="226771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2F62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哪些字段需要参数化</a:t>
            </a:r>
            <a:endParaRPr lang="en-US" sz="1230" dirty="0"/>
          </a:p>
        </p:txBody>
      </p:sp>
      <p:sp>
        <p:nvSpPr>
          <p:cNvPr id="6" name="Shape 4"/>
          <p:cNvSpPr/>
          <p:nvPr/>
        </p:nvSpPr>
        <p:spPr>
          <a:xfrm>
            <a:off x="3429000" y="1216152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5240">
            <a:solidFill>
              <a:srgbClr val="2F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83864" y="1280160"/>
            <a:ext cx="226771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2F7D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请求之间的关联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6263640" y="1216152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5240">
            <a:solidFill>
              <a:srgbClr val="F07B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18504" y="1280160"/>
            <a:ext cx="226771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F07B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按测试目的调整结构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9098280" y="1216152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5240">
            <a:solidFill>
              <a:srgbClr val="6A35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53144" y="1280160"/>
            <a:ext cx="226771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6A35D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不同站点特殊处理</a:t>
            </a:r>
            <a:endParaRPr lang="en-US" sz="1230" dirty="0"/>
          </a:p>
        </p:txBody>
      </p:sp>
      <p:sp>
        <p:nvSpPr>
          <p:cNvPr id="12" name="Shape 10"/>
          <p:cNvSpPr/>
          <p:nvPr/>
        </p:nvSpPr>
        <p:spPr>
          <a:xfrm>
            <a:off x="658368" y="1901952"/>
            <a:ext cx="3200400" cy="39776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21590">
            <a:solidFill>
              <a:srgbClr val="2F62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69664" y="1901952"/>
            <a:ext cx="3200400" cy="39776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21590">
            <a:solidFill>
              <a:srgbClr val="F07B1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80960" y="1901952"/>
            <a:ext cx="3200400" cy="39776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21590">
            <a:solidFill>
              <a:srgbClr val="D84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2148840"/>
            <a:ext cx="27432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① 测试压力容易被分散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334256" y="2148840"/>
            <a:ext cx="288036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② 同一功能在不同站点有差别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7982712" y="2148840"/>
            <a:ext cx="2606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③ 人工处理容易出错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1444752" y="2743200"/>
            <a:ext cx="1536192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3970">
            <a:solidFill>
              <a:srgbClr val="2F62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72768" y="2852928"/>
            <a:ext cx="1280160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Login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212848" y="3236976"/>
            <a:ext cx="0" cy="347472"/>
          </a:xfrm>
          <a:prstGeom prst="line">
            <a:avLst/>
          </a:prstGeom>
          <a:noFill/>
          <a:ln w="22860">
            <a:solidFill>
              <a:srgbClr val="2F62E8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444752" y="3703320"/>
            <a:ext cx="1536192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3970">
            <a:solidFill>
              <a:srgbClr val="2F62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72768" y="3813048"/>
            <a:ext cx="1280160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Home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212848" y="4187952"/>
            <a:ext cx="0" cy="347472"/>
          </a:xfrm>
          <a:prstGeom prst="line">
            <a:avLst/>
          </a:prstGeom>
          <a:noFill/>
          <a:ln w="22860">
            <a:solidFill>
              <a:srgbClr val="2F62E8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444752" y="4645152"/>
            <a:ext cx="1536192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3970">
            <a:solidFill>
              <a:srgbClr val="2F62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72768" y="4754880"/>
            <a:ext cx="1280160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Add Case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14400" y="5276088"/>
            <a:ext cx="2697480" cy="4846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目标：多用户持续 Add Case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如果每轮都重新 Login，压力会被分散。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056632" y="2852928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Report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590288" y="3401568"/>
            <a:ext cx="141732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3970">
            <a:solidFill>
              <a:srgbClr val="2F7D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18304" y="3511296"/>
            <a:ext cx="1161288" cy="62179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Site A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template_id=A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486400" y="4443984"/>
            <a:ext cx="141732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3970">
            <a:solidFill>
              <a:srgbClr val="F07B1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14416" y="4553712"/>
            <a:ext cx="1161288" cy="62179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Site B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template_id=B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663440" y="5376672"/>
            <a:ext cx="2606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页面、参数、业务逻辑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都可能不同。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439785" y="2834640"/>
            <a:ext cx="1755775" cy="895985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3970">
            <a:solidFill>
              <a:srgbClr val="D84A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68055" y="2944495"/>
            <a:ext cx="1499870" cy="6121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Offender_id</a:t>
            </a:r>
            <a:r>
              <a:rPr lang="zh-CN" altLang="en-US" sz="1600" dirty="0">
                <a:solidFill>
                  <a:srgbClr val="111111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？</a:t>
            </a:r>
            <a:endParaRPr lang="zh-CN" altLang="en-US" sz="1600" dirty="0">
              <a:solidFill>
                <a:srgbClr val="111111"/>
              </a:solidFill>
              <a:latin typeface="Noto Sans Mono CJK SC" pitchFamily="34" charset="0"/>
              <a:ea typeface="Noto Sans Mono CJK SC" pitchFamily="34" charset="-122"/>
              <a:cs typeface="Noto Sans Mono CJK SC" pitchFamily="34" charset="-120"/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rgbClr val="111111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offender_id?</a:t>
            </a:r>
            <a:endParaRPr lang="en-US" altLang="zh-CN" sz="1600" dirty="0">
              <a:solidFill>
                <a:srgbClr val="111111"/>
              </a:solidFill>
              <a:latin typeface="Noto Sans Mono CJK SC" pitchFamily="34" charset="0"/>
              <a:ea typeface="Noto Sans Mono CJK SC" pitchFamily="34" charset="-122"/>
              <a:cs typeface="Noto Sans Mono CJK SC" pitchFamily="34" charset="-12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8156448" y="3977640"/>
            <a:ext cx="22860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字段命名、引用、关联规则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都需要人工逐项确认。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156448" y="4892040"/>
            <a:ext cx="22860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84A3A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同一个固定脚本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D84A3A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无法适应所有测试场景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31520" y="6419088"/>
            <a:ext cx="10744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传统流程真正耗时的部分，是“理解测试目标并做业务判断”。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2971800" y="6711696"/>
            <a:ext cx="6217920" cy="0"/>
          </a:xfrm>
          <a:prstGeom prst="line">
            <a:avLst/>
          </a:prstGeom>
          <a:noFill/>
          <a:ln w="20320">
            <a:solidFill>
              <a:srgbClr val="F07B18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11201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从人工经验到 jmeter-loader-skills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758952"/>
            <a:ext cx="10744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把日常编写性能脚本的判断规则固化成 Skill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4251960" cy="4434840"/>
          </a:xfrm>
          <a:prstGeom prst="roundRect">
            <a:avLst>
              <a:gd name="adj" fmla="val 1505"/>
            </a:avLst>
          </a:prstGeom>
          <a:solidFill>
            <a:srgbClr val="FFFFFF"/>
          </a:solidFill>
          <a:ln w="21590">
            <a:solidFill>
              <a:srgbClr val="2F6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0" y="1536192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人工经验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51560" y="2212848"/>
            <a:ext cx="320040" cy="0"/>
          </a:xfrm>
          <a:prstGeom prst="line">
            <a:avLst/>
          </a:prstGeom>
          <a:noFill/>
          <a:ln w="19050">
            <a:solidFill>
              <a:srgbClr val="2F6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81328" y="2084832"/>
            <a:ext cx="2880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哪些请求应该保留</a:t>
            </a:r>
            <a:endParaRPr lang="en-US" sz="1420" dirty="0"/>
          </a:p>
        </p:txBody>
      </p:sp>
      <p:sp>
        <p:nvSpPr>
          <p:cNvPr id="8" name="Shape 6"/>
          <p:cNvSpPr/>
          <p:nvPr/>
        </p:nvSpPr>
        <p:spPr>
          <a:xfrm>
            <a:off x="1051560" y="2715768"/>
            <a:ext cx="320040" cy="0"/>
          </a:xfrm>
          <a:prstGeom prst="line">
            <a:avLst/>
          </a:prstGeom>
          <a:noFill/>
          <a:ln w="19050">
            <a:solidFill>
              <a:srgbClr val="2F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81328" y="2587752"/>
            <a:ext cx="2880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哪些参数需要变化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1051560" y="3218688"/>
            <a:ext cx="320040" cy="0"/>
          </a:xfrm>
          <a:prstGeom prst="line">
            <a:avLst/>
          </a:prstGeom>
          <a:noFill/>
          <a:ln w="19050">
            <a:solidFill>
              <a:srgbClr val="F07B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81328" y="3090672"/>
            <a:ext cx="2880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哪些数据需要关联</a:t>
            </a:r>
            <a:endParaRPr lang="en-US" sz="1420" dirty="0"/>
          </a:p>
        </p:txBody>
      </p:sp>
      <p:sp>
        <p:nvSpPr>
          <p:cNvPr id="12" name="Shape 10"/>
          <p:cNvSpPr/>
          <p:nvPr/>
        </p:nvSpPr>
        <p:spPr>
          <a:xfrm>
            <a:off x="1051560" y="3721608"/>
            <a:ext cx="320040" cy="0"/>
          </a:xfrm>
          <a:prstGeom prst="line">
            <a:avLst/>
          </a:prstGeom>
          <a:noFill/>
          <a:ln w="19050">
            <a:solidFill>
              <a:srgbClr val="6A35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81328" y="3593592"/>
            <a:ext cx="2880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Transaction 如何组织</a:t>
            </a:r>
            <a:endParaRPr lang="en-US" sz="1420" dirty="0"/>
          </a:p>
        </p:txBody>
      </p:sp>
      <p:sp>
        <p:nvSpPr>
          <p:cNvPr id="14" name="Shape 12"/>
          <p:cNvSpPr/>
          <p:nvPr/>
        </p:nvSpPr>
        <p:spPr>
          <a:xfrm>
            <a:off x="1051560" y="4224528"/>
            <a:ext cx="320040" cy="0"/>
          </a:xfrm>
          <a:prstGeom prst="line">
            <a:avLst/>
          </a:prstGeom>
          <a:noFill/>
          <a:ln w="19050">
            <a:solidFill>
              <a:srgbClr val="2F62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81328" y="4096512"/>
            <a:ext cx="2880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Loop 如何组织</a:t>
            </a:r>
            <a:endParaRPr lang="en-US" sz="1420" dirty="0"/>
          </a:p>
        </p:txBody>
      </p:sp>
      <p:sp>
        <p:nvSpPr>
          <p:cNvPr id="16" name="Shape 14"/>
          <p:cNvSpPr/>
          <p:nvPr/>
        </p:nvSpPr>
        <p:spPr>
          <a:xfrm>
            <a:off x="1051560" y="4727448"/>
            <a:ext cx="320040" cy="0"/>
          </a:xfrm>
          <a:prstGeom prst="line">
            <a:avLst/>
          </a:prstGeom>
          <a:noFill/>
          <a:ln w="19050">
            <a:solidFill>
              <a:srgbClr val="2F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81328" y="4599432"/>
            <a:ext cx="2880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不同测试目标如何处理</a:t>
            </a:r>
            <a:endParaRPr lang="en-US" sz="1420" dirty="0"/>
          </a:p>
        </p:txBody>
      </p:sp>
      <p:sp>
        <p:nvSpPr>
          <p:cNvPr id="18" name="Shape 16"/>
          <p:cNvSpPr/>
          <p:nvPr/>
        </p:nvSpPr>
        <p:spPr>
          <a:xfrm>
            <a:off x="5166360" y="3547872"/>
            <a:ext cx="822960" cy="0"/>
          </a:xfrm>
          <a:prstGeom prst="line">
            <a:avLst/>
          </a:prstGeom>
          <a:noFill/>
          <a:ln w="3302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172200" y="2148840"/>
            <a:ext cx="2148840" cy="2606040"/>
          </a:xfrm>
          <a:prstGeom prst="roundRect">
            <a:avLst>
              <a:gd name="adj" fmla="val 2979"/>
            </a:avLst>
          </a:prstGeom>
          <a:solidFill>
            <a:srgbClr val="F2F8F2"/>
          </a:solidFill>
          <a:ln w="21590">
            <a:solidFill>
              <a:srgbClr val="2F7D3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31152" y="2578608"/>
            <a:ext cx="621792" cy="475488"/>
          </a:xfrm>
          <a:prstGeom prst="ellipse">
            <a:avLst/>
          </a:prstGeom>
          <a:solidFill>
            <a:srgbClr val="FFFFFF"/>
          </a:solidFill>
          <a:ln w="21590">
            <a:solidFill>
              <a:srgbClr val="2F7D3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50024" y="2651760"/>
            <a:ext cx="201168" cy="201168"/>
          </a:xfrm>
          <a:prstGeom prst="arc">
            <a:avLst/>
          </a:prstGeom>
          <a:noFill/>
          <a:ln w="15240">
            <a:solidFill>
              <a:srgbClr val="2F7D3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23760" y="2688336"/>
            <a:ext cx="201168" cy="201168"/>
          </a:xfrm>
          <a:prstGeom prst="arc">
            <a:avLst/>
          </a:prstGeom>
          <a:noFill/>
          <a:ln w="15240">
            <a:solidFill>
              <a:srgbClr val="2F7D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3246120"/>
            <a:ext cx="1783080" cy="4937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jmeter-loader-skills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492240" y="3913632"/>
            <a:ext cx="1508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把经验变成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可复用规则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549640" y="3547872"/>
            <a:ext cx="685800" cy="0"/>
          </a:xfrm>
          <a:prstGeom prst="line">
            <a:avLst/>
          </a:prstGeom>
          <a:noFill/>
          <a:ln w="3302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372600" y="2148840"/>
            <a:ext cx="2011680" cy="2606040"/>
          </a:xfrm>
          <a:prstGeom prst="roundRect">
            <a:avLst>
              <a:gd name="adj" fmla="val 3182"/>
            </a:avLst>
          </a:prstGeom>
          <a:solidFill>
            <a:srgbClr val="F7F2FF"/>
          </a:solidFill>
          <a:ln w="21590">
            <a:solidFill>
              <a:srgbClr val="6A35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29800" y="2606040"/>
            <a:ext cx="10972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A35D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9582912" y="3401568"/>
            <a:ext cx="1600200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根据测试需求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生成 JMeter Script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ChatGPT Image Aug 27, 2026, 10_12_51 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ChatGPT Image Aug 27, 2026, 10_13_37 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11201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不同的数据，采用不同的参数化方式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758952"/>
            <a:ext cx="10744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参数化策略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38912" y="1353312"/>
            <a:ext cx="2103120" cy="2148840"/>
          </a:xfrm>
          <a:prstGeom prst="roundRect">
            <a:avLst>
              <a:gd name="adj" fmla="val 3043"/>
            </a:avLst>
          </a:prstGeom>
          <a:solidFill>
            <a:srgbClr val="EFF4FF"/>
          </a:solidFill>
          <a:ln w="21590">
            <a:solidFill>
              <a:srgbClr val="2F6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572768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文件数据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585216" y="2029968"/>
            <a:ext cx="1810512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Username / Password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694944" y="2816352"/>
            <a:ext cx="1591056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5240">
            <a:solidFill>
              <a:srgbClr val="2F62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880360"/>
            <a:ext cx="14813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2F62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CSV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2761488" y="1353312"/>
            <a:ext cx="2103120" cy="2148840"/>
          </a:xfrm>
          <a:prstGeom prst="roundRect">
            <a:avLst>
              <a:gd name="adj" fmla="val 3043"/>
            </a:avLst>
          </a:prstGeom>
          <a:solidFill>
            <a:srgbClr val="F2F8F2"/>
          </a:solidFill>
          <a:ln w="21590">
            <a:solidFill>
              <a:srgbClr val="2F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98648" y="1572768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动态随机参数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2907792" y="2029968"/>
            <a:ext cx="1810512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Person Name</a:t>
            </a:r>
            <a:endParaRPr lang="en-US" sz="1280" dirty="0"/>
          </a:p>
          <a:p>
            <a:pPr marL="0" indent="0" algn="ctr">
              <a:buNone/>
            </a:pPr>
            <a:r>
              <a:rPr lang="en-US" sz="128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Driver License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3017520" y="2816352"/>
            <a:ext cx="1591056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5240">
            <a:solidFill>
              <a:srgbClr val="2F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72384" y="2880360"/>
            <a:ext cx="14813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2F7D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Random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5084064" y="1353312"/>
            <a:ext cx="2103120" cy="2148840"/>
          </a:xfrm>
          <a:prstGeom prst="roundRect">
            <a:avLst>
              <a:gd name="adj" fmla="val 3043"/>
            </a:avLst>
          </a:prstGeom>
          <a:solidFill>
            <a:srgbClr val="FFF5EA"/>
          </a:solidFill>
          <a:ln w="21590">
            <a:solidFill>
              <a:srgbClr val="F07B1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21224" y="1572768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静态值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5230368" y="2029968"/>
            <a:ext cx="1810512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Sex / Race</a:t>
            </a:r>
            <a:endParaRPr lang="en-US" sz="1280" dirty="0"/>
          </a:p>
        </p:txBody>
      </p:sp>
      <p:sp>
        <p:nvSpPr>
          <p:cNvPr id="17" name="Shape 15"/>
          <p:cNvSpPr/>
          <p:nvPr/>
        </p:nvSpPr>
        <p:spPr>
          <a:xfrm>
            <a:off x="5340096" y="2816352"/>
            <a:ext cx="1591056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5240">
            <a:solidFill>
              <a:srgbClr val="F07B1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0" y="2880360"/>
            <a:ext cx="14813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07B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 Fiddler 值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7406640" y="1353312"/>
            <a:ext cx="2103120" cy="2148840"/>
          </a:xfrm>
          <a:prstGeom prst="roundRect">
            <a:avLst>
              <a:gd name="adj" fmla="val 3043"/>
            </a:avLst>
          </a:prstGeom>
          <a:solidFill>
            <a:srgbClr val="F7F2FF"/>
          </a:solidFill>
          <a:ln w="21590">
            <a:solidFill>
              <a:srgbClr val="6A35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43800" y="1572768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关联参数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7552944" y="2029968"/>
            <a:ext cx="1810512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person_id / case_id</a:t>
            </a:r>
            <a:endParaRPr lang="en-US" sz="1280" dirty="0"/>
          </a:p>
        </p:txBody>
      </p:sp>
      <p:sp>
        <p:nvSpPr>
          <p:cNvPr id="22" name="Shape 20"/>
          <p:cNvSpPr/>
          <p:nvPr/>
        </p:nvSpPr>
        <p:spPr>
          <a:xfrm>
            <a:off x="7662672" y="2816352"/>
            <a:ext cx="1591056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5240">
            <a:solidFill>
              <a:srgbClr val="6A35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17536" y="2880360"/>
            <a:ext cx="14813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6A35D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Response Extractor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9729216" y="1353312"/>
            <a:ext cx="2103120" cy="2148840"/>
          </a:xfrm>
          <a:prstGeom prst="roundRect">
            <a:avLst>
              <a:gd name="adj" fmla="val 3043"/>
            </a:avLst>
          </a:prstGeom>
          <a:solidFill>
            <a:srgbClr val="FFF0EF"/>
          </a:solidFill>
          <a:ln w="21590">
            <a:solidFill>
              <a:srgbClr val="D84A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66376" y="1572768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特殊参数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9875520" y="2029968"/>
            <a:ext cx="1810512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特殊编码 / 组合字段</a:t>
            </a:r>
            <a:endParaRPr lang="en-US" sz="1280" dirty="0"/>
          </a:p>
        </p:txBody>
      </p:sp>
      <p:sp>
        <p:nvSpPr>
          <p:cNvPr id="27" name="Shape 25"/>
          <p:cNvSpPr/>
          <p:nvPr/>
        </p:nvSpPr>
        <p:spPr>
          <a:xfrm>
            <a:off x="9985248" y="2816352"/>
            <a:ext cx="1591056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5240">
            <a:solidFill>
              <a:srgbClr val="D84A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40112" y="2880360"/>
            <a:ext cx="14813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D8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专门规则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777240" y="3977640"/>
            <a:ext cx="1065276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6510">
            <a:solidFill>
              <a:srgbClr val="11111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87552" y="4187952"/>
            <a:ext cx="1417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Person 示例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960120" y="4663440"/>
            <a:ext cx="169164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21590">
            <a:solidFill>
              <a:srgbClr val="2F62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33272" y="4782312"/>
            <a:ext cx="1545336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Username / Password</a:t>
            </a:r>
            <a:endParaRPr lang="en-US" sz="1070" dirty="0"/>
          </a:p>
        </p:txBody>
      </p:sp>
      <p:sp>
        <p:nvSpPr>
          <p:cNvPr id="33" name="Text 31"/>
          <p:cNvSpPr/>
          <p:nvPr/>
        </p:nvSpPr>
        <p:spPr>
          <a:xfrm>
            <a:off x="1033272" y="5120640"/>
            <a:ext cx="1545336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10" dirty="0">
                <a:solidFill>
                  <a:srgbClr val="2F62E8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CSV</a:t>
            </a:r>
            <a:endParaRPr lang="en-US" sz="1010" dirty="0"/>
          </a:p>
        </p:txBody>
      </p:sp>
      <p:sp>
        <p:nvSpPr>
          <p:cNvPr id="34" name="Shape 32"/>
          <p:cNvSpPr/>
          <p:nvPr/>
        </p:nvSpPr>
        <p:spPr>
          <a:xfrm>
            <a:off x="2697480" y="5065776"/>
            <a:ext cx="274320" cy="0"/>
          </a:xfrm>
          <a:prstGeom prst="line">
            <a:avLst/>
          </a:prstGeom>
          <a:noFill/>
          <a:ln w="2032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3063240" y="4663440"/>
            <a:ext cx="169164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21590">
            <a:solidFill>
              <a:srgbClr val="2F7D3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36392" y="4782312"/>
            <a:ext cx="1545336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Person Name / Driver License</a:t>
            </a:r>
            <a:endParaRPr lang="en-US" sz="1070" dirty="0"/>
          </a:p>
        </p:txBody>
      </p:sp>
      <p:sp>
        <p:nvSpPr>
          <p:cNvPr id="37" name="Text 35"/>
          <p:cNvSpPr/>
          <p:nvPr/>
        </p:nvSpPr>
        <p:spPr>
          <a:xfrm>
            <a:off x="3136392" y="5120640"/>
            <a:ext cx="1545336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10" dirty="0">
                <a:solidFill>
                  <a:srgbClr val="2F7D32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Random</a:t>
            </a:r>
            <a:endParaRPr lang="en-US" sz="1010" dirty="0"/>
          </a:p>
        </p:txBody>
      </p:sp>
      <p:sp>
        <p:nvSpPr>
          <p:cNvPr id="38" name="Shape 36"/>
          <p:cNvSpPr/>
          <p:nvPr/>
        </p:nvSpPr>
        <p:spPr>
          <a:xfrm>
            <a:off x="4800600" y="5065776"/>
            <a:ext cx="274320" cy="0"/>
          </a:xfrm>
          <a:prstGeom prst="line">
            <a:avLst/>
          </a:prstGeom>
          <a:noFill/>
          <a:ln w="2032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5166360" y="4663440"/>
            <a:ext cx="169164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21590">
            <a:solidFill>
              <a:srgbClr val="F07B1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39512" y="4782312"/>
            <a:ext cx="1545336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Sex / Race</a:t>
            </a:r>
            <a:endParaRPr lang="en-US" sz="1070" dirty="0"/>
          </a:p>
        </p:txBody>
      </p:sp>
      <p:sp>
        <p:nvSpPr>
          <p:cNvPr id="41" name="Text 39"/>
          <p:cNvSpPr/>
          <p:nvPr/>
        </p:nvSpPr>
        <p:spPr>
          <a:xfrm>
            <a:off x="5239512" y="5120640"/>
            <a:ext cx="1545336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10" dirty="0">
                <a:solidFill>
                  <a:srgbClr val="F07B18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Captured Value</a:t>
            </a:r>
            <a:endParaRPr lang="en-US" sz="1010" dirty="0"/>
          </a:p>
        </p:txBody>
      </p:sp>
      <p:sp>
        <p:nvSpPr>
          <p:cNvPr id="42" name="Shape 40"/>
          <p:cNvSpPr/>
          <p:nvPr/>
        </p:nvSpPr>
        <p:spPr>
          <a:xfrm>
            <a:off x="6903720" y="5065776"/>
            <a:ext cx="274320" cy="0"/>
          </a:xfrm>
          <a:prstGeom prst="line">
            <a:avLst/>
          </a:prstGeom>
          <a:noFill/>
          <a:ln w="2032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7269480" y="4663440"/>
            <a:ext cx="169164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21590">
            <a:solidFill>
              <a:srgbClr val="6A35D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42632" y="4782312"/>
            <a:ext cx="1545336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Add Person Response</a:t>
            </a:r>
            <a:endParaRPr lang="en-US" sz="1070" dirty="0"/>
          </a:p>
        </p:txBody>
      </p:sp>
      <p:sp>
        <p:nvSpPr>
          <p:cNvPr id="45" name="Text 43"/>
          <p:cNvSpPr/>
          <p:nvPr/>
        </p:nvSpPr>
        <p:spPr>
          <a:xfrm>
            <a:off x="7342632" y="5120640"/>
            <a:ext cx="1545336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10" dirty="0">
                <a:solidFill>
                  <a:srgbClr val="6A35D9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Extract ${person_id}</a:t>
            </a:r>
            <a:endParaRPr lang="en-US" sz="1010" dirty="0"/>
          </a:p>
        </p:txBody>
      </p:sp>
      <p:sp>
        <p:nvSpPr>
          <p:cNvPr id="46" name="Shape 44"/>
          <p:cNvSpPr/>
          <p:nvPr/>
        </p:nvSpPr>
        <p:spPr>
          <a:xfrm>
            <a:off x="9006840" y="5065776"/>
            <a:ext cx="274320" cy="0"/>
          </a:xfrm>
          <a:prstGeom prst="line">
            <a:avLst/>
          </a:prstGeom>
          <a:noFill/>
          <a:ln w="2032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9372600" y="4663440"/>
            <a:ext cx="169164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21590">
            <a:solidFill>
              <a:srgbClr val="D84A3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445752" y="4782312"/>
            <a:ext cx="1545336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Create Report</a:t>
            </a:r>
            <a:endParaRPr lang="en-US" sz="1070" dirty="0"/>
          </a:p>
        </p:txBody>
      </p:sp>
      <p:sp>
        <p:nvSpPr>
          <p:cNvPr id="49" name="Text 47"/>
          <p:cNvSpPr/>
          <p:nvPr/>
        </p:nvSpPr>
        <p:spPr>
          <a:xfrm>
            <a:off x="9445752" y="5120640"/>
            <a:ext cx="1545336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10" dirty="0">
                <a:solidFill>
                  <a:srgbClr val="D84A3A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person_id=${person_id}</a:t>
            </a:r>
            <a:endParaRPr lang="en-US" sz="1010" dirty="0"/>
          </a:p>
        </p:txBody>
      </p:sp>
      <p:sp>
        <p:nvSpPr>
          <p:cNvPr id="50" name="Text 48"/>
          <p:cNvSpPr/>
          <p:nvPr/>
        </p:nvSpPr>
        <p:spPr>
          <a:xfrm>
            <a:off x="731520" y="6419088"/>
            <a:ext cx="10744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先判断数据属于哪一类，再决定“保留、随机、读取文件还是从响应中提取”。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2971800" y="6711696"/>
            <a:ext cx="6217920" cy="0"/>
          </a:xfrm>
          <a:prstGeom prst="line">
            <a:avLst/>
          </a:prstGeom>
          <a:noFill/>
          <a:ln w="20320">
            <a:solidFill>
              <a:srgbClr val="2F7D32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ChatGPT Image Aug 27, 2026, 10_14_26 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ChatGPT Image Aug 27, 2026, 01_48_01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11201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编写 SKILL 的经验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758952"/>
            <a:ext cx="10744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从实际使用中总结出的三条原则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3154680" cy="4498848"/>
          </a:xfrm>
          <a:prstGeom prst="roundRect">
            <a:avLst>
              <a:gd name="adj" fmla="val 2029"/>
            </a:avLst>
          </a:prstGeom>
          <a:solidFill>
            <a:srgbClr val="FFFFFF"/>
          </a:solidFill>
          <a:ln w="21590">
            <a:solidFill>
              <a:srgbClr val="2F62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27632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F62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645920"/>
            <a:ext cx="27432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98448" y="1664208"/>
            <a:ext cx="1965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1. 拆分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160520" y="1417320"/>
            <a:ext cx="3154680" cy="4498848"/>
          </a:xfrm>
          <a:prstGeom prst="roundRect">
            <a:avLst>
              <a:gd name="adj" fmla="val 2029"/>
            </a:avLst>
          </a:prstGeom>
          <a:solidFill>
            <a:srgbClr val="FFFFFF"/>
          </a:solidFill>
          <a:ln w="21590">
            <a:solidFill>
              <a:srgbClr val="F07B1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25112" y="1627632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07B1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43400" y="1645920"/>
            <a:ext cx="27432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00600" y="1664208"/>
            <a:ext cx="1965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2. 固化脚本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662672" y="1417320"/>
            <a:ext cx="3154680" cy="4498848"/>
          </a:xfrm>
          <a:prstGeom prst="roundRect">
            <a:avLst>
              <a:gd name="adj" fmla="val 2029"/>
            </a:avLst>
          </a:prstGeom>
          <a:solidFill>
            <a:srgbClr val="FFFFFF"/>
          </a:solidFill>
          <a:ln w="21590">
            <a:solidFill>
              <a:srgbClr val="2F7D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27264" y="1627632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F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45552" y="1645920"/>
            <a:ext cx="27432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02752" y="1664208"/>
            <a:ext cx="1965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3. 验证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87552" y="2304288"/>
            <a:ext cx="2514600" cy="80467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参照日常工作流，把复杂的大 Skill 拆成多个轻量化小 Skill，再按流程串联调用。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426464" y="3401568"/>
            <a:ext cx="1609344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3970">
            <a:solidFill>
              <a:srgbClr val="2F62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54480" y="3511296"/>
            <a:ext cx="1353312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大 Skill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231136" y="3895344"/>
            <a:ext cx="0" cy="365760"/>
          </a:xfrm>
          <a:prstGeom prst="line">
            <a:avLst/>
          </a:prstGeom>
          <a:noFill/>
          <a:ln w="22860">
            <a:solidFill>
              <a:srgbClr val="2F62E8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024128" y="4416552"/>
            <a:ext cx="2404872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3970">
            <a:solidFill>
              <a:srgbClr val="2F62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52144" y="4526280"/>
            <a:ext cx="2148840" cy="28346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小 Skill 1  →  小 Skill 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24128" y="5230368"/>
            <a:ext cx="240487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30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也可以按步骤拆成多个独立 Skill。</a:t>
            </a:r>
            <a:endParaRPr lang="en-US" sz="1330" dirty="0"/>
          </a:p>
        </p:txBody>
      </p:sp>
      <p:sp>
        <p:nvSpPr>
          <p:cNvPr id="23" name="Text 21"/>
          <p:cNvSpPr/>
          <p:nvPr/>
        </p:nvSpPr>
        <p:spPr>
          <a:xfrm>
            <a:off x="4489704" y="2304288"/>
            <a:ext cx="2496312" cy="80467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如果输出可以由确定规则计算得到，就把它固化成脚本，减少大模型自由生成。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873752" y="3401568"/>
            <a:ext cx="173736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3970">
            <a:solidFill>
              <a:srgbClr val="F07B1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01768" y="3511296"/>
            <a:ext cx="148132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已知元件属性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742432" y="3895344"/>
            <a:ext cx="0" cy="374904"/>
          </a:xfrm>
          <a:prstGeom prst="line">
            <a:avLst/>
          </a:prstGeom>
          <a:noFill/>
          <a:ln w="22860">
            <a:solidFill>
              <a:srgbClr val="F07B18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754880" y="4425696"/>
            <a:ext cx="196596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3970">
            <a:solidFill>
              <a:srgbClr val="F07B1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82896" y="4535424"/>
            <a:ext cx="1709928" cy="28346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Generator Script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742432" y="4983480"/>
            <a:ext cx="0" cy="301752"/>
          </a:xfrm>
          <a:prstGeom prst="line">
            <a:avLst/>
          </a:prstGeom>
          <a:noFill/>
          <a:ln w="22860">
            <a:solidFill>
              <a:srgbClr val="F07B18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065776" y="5394960"/>
            <a:ext cx="1353312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3970">
            <a:solidFill>
              <a:srgbClr val="F07B1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93792" y="5504688"/>
            <a:ext cx="1097280" cy="18288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JMX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001000" y="2304288"/>
            <a:ext cx="2514600" cy="71323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不要依赖模型“顺手自测”。Skill 自己应该明确包含验证步骤。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8403336" y="3300984"/>
            <a:ext cx="1719072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3970">
            <a:solidFill>
              <a:srgbClr val="2F7D3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31352" y="3410712"/>
            <a:ext cx="1463040" cy="20116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Generate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9262872" y="3776472"/>
            <a:ext cx="0" cy="356616"/>
          </a:xfrm>
          <a:prstGeom prst="line">
            <a:avLst/>
          </a:prstGeom>
          <a:noFill/>
          <a:ln w="22860">
            <a:solidFill>
              <a:srgbClr val="2F7D32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8403336" y="4288536"/>
            <a:ext cx="1719072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3970">
            <a:solidFill>
              <a:srgbClr val="2F7D3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31352" y="4398264"/>
            <a:ext cx="1463040" cy="20116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Validate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9262872" y="4764024"/>
            <a:ext cx="0" cy="356616"/>
          </a:xfrm>
          <a:prstGeom prst="line">
            <a:avLst/>
          </a:prstGeom>
          <a:noFill/>
          <a:ln w="22860">
            <a:solidFill>
              <a:srgbClr val="2F7D32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8110728" y="5266944"/>
            <a:ext cx="2304288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3970">
            <a:solidFill>
              <a:srgbClr val="D84A3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38744" y="5376672"/>
            <a:ext cx="2048256" cy="23774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111111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发现问题 → 修正</a:t>
            </a:r>
            <a:endParaRPr lang="en-US" sz="1180" dirty="0"/>
          </a:p>
        </p:txBody>
      </p:sp>
      <p:sp>
        <p:nvSpPr>
          <p:cNvPr id="41" name="Text 39"/>
          <p:cNvSpPr/>
          <p:nvPr/>
        </p:nvSpPr>
        <p:spPr>
          <a:xfrm>
            <a:off x="8065008" y="5806440"/>
            <a:ext cx="2395728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D84A3A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否则某些模型会自动修正错误，反而让 Skill 本身的 bug 长期不被发现。</a:t>
            </a:r>
            <a:endParaRPr lang="en-US" sz="11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 PL KaitiM GB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 PL KaitiM GB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1780</Words>
  <Application>WPS 演示</Application>
  <PresentationFormat>On-screen Show (16:9)</PresentationFormat>
  <Paragraphs>265</Paragraphs>
  <Slides>11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30" baseType="lpstr">
      <vt:lpstr>Arial</vt:lpstr>
      <vt:lpstr>宋体</vt:lpstr>
      <vt:lpstr>Wingdings</vt:lpstr>
      <vt:lpstr>AR PL KaitiM GB</vt:lpstr>
      <vt:lpstr>Segoe Print</vt:lpstr>
      <vt:lpstr>AR PL KaitiM GB</vt:lpstr>
      <vt:lpstr>AR PL KaitiM GB</vt:lpstr>
      <vt:lpstr>Noto Sans CJK SC</vt:lpstr>
      <vt:lpstr>Noto Sans CJK SC</vt:lpstr>
      <vt:lpstr>Noto Sans CJK SC</vt:lpstr>
      <vt:lpstr>Noto Sans Mono CJK SC</vt:lpstr>
      <vt:lpstr>Noto Sans Mono CJK SC</vt:lpstr>
      <vt:lpstr>Noto Sans Mono CJK SC</vt:lpstr>
      <vt:lpstr>微软雅黑</vt:lpstr>
      <vt:lpstr>Arial Unicode MS</vt:lpstr>
      <vt:lpstr>等线</vt:lpstr>
      <vt:lpstr>MingLiU-ExtB</vt:lpstr>
      <vt:lpstr>微软雅黑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jmeter-loader-skills</dc:title>
  <dc:creator>OpenAI</dc:creator>
  <dc:subject>jmeter-loader-skills presentation</dc:subject>
  <cp:lastModifiedBy>29001</cp:lastModifiedBy>
  <cp:revision>2</cp:revision>
  <dcterms:created xsi:type="dcterms:W3CDTF">2026-08-30T05:16:00Z</dcterms:created>
  <dcterms:modified xsi:type="dcterms:W3CDTF">2026-08-30T07:05:05Z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71400CFE91A54341B86B4000DBA2F2DC_12</vt:lpwstr>
  </property>
</Properties>
</file>