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8" r:id="rId2"/>
    <p:sldId id="267" r:id="rId3"/>
    <p:sldId id="258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558" y="320040"/>
            <a:ext cx="8321040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jmeter-loader-skills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9118" y="841248"/>
            <a:ext cx="85039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把人工编写 JMeter 脚本的关键步骤，总结为 SKILL。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678" y="187452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414" y="199339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448" y="2030730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878" y="2039112"/>
            <a:ext cx="114300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Fiddler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87870" y="2450592"/>
            <a:ext cx="126187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446" y="2532888"/>
            <a:ext cx="11887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5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抓包内容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438" y="1572768"/>
            <a:ext cx="56235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5038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84182" y="1778508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3950" y="1920240"/>
            <a:ext cx="4544568" cy="26517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87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分析抓包  →  参数化  →  关联  →  组织脚本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22510" y="2450592"/>
            <a:ext cx="449884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638" y="2578608"/>
            <a:ext cx="47548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人工编写 JMeter 脚本时最关键的处理过程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9491790" y="187452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64815" y="2000377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82849" y="2009775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94126" y="2029968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Script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894126" y="2450592"/>
            <a:ext cx="1325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48990" y="2542032"/>
            <a:ext cx="126187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5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性能测试脚本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97798" y="2432304"/>
            <a:ext cx="484632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24862" y="2432304"/>
            <a:ext cx="493776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62790" y="3310128"/>
            <a:ext cx="0" cy="420624"/>
          </a:xfrm>
          <a:prstGeom prst="line">
            <a:avLst/>
          </a:prstGeom>
          <a:noFill/>
          <a:ln w="2667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69398" y="3840480"/>
            <a:ext cx="4005072" cy="1417320"/>
          </a:xfrm>
          <a:prstGeom prst="roundRect">
            <a:avLst>
              <a:gd name="adj" fmla="val 5161"/>
            </a:avLst>
          </a:prstGeom>
          <a:solidFill>
            <a:srgbClr val="FFF9F3"/>
          </a:solidFill>
          <a:ln w="27940">
            <a:solidFill>
              <a:srgbClr val="E3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678" y="4069080"/>
            <a:ext cx="178308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36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SKILL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26598" y="4462272"/>
            <a:ext cx="309067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将经验沉淀为可复用的 SKILL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1143318" y="6080760"/>
            <a:ext cx="992124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从“人工分析抓包”到“Skill 驱动生成脚本”，核心变化是把经验标准化、结构化。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972118" y="6382512"/>
            <a:ext cx="6263640" cy="0"/>
          </a:xfrm>
          <a:prstGeom prst="line">
            <a:avLst/>
          </a:prstGeom>
          <a:noFill/>
          <a:ln w="27940">
            <a:solidFill>
              <a:srgbClr val="7A3DF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798" y="256032"/>
            <a:ext cx="1138428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的树形结构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838" y="804672"/>
            <a:ext cx="10789920" cy="29260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性能脚本按照树从上到下执行，子节点跟随父节点一起生效。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998" y="3328416"/>
            <a:ext cx="630936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截图放这里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318" y="3749040"/>
            <a:ext cx="5760720" cy="29260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建议放左侧 Test Plan 树形结构截图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25436" y="1700784"/>
            <a:ext cx="3794760" cy="4755642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84198" y="1883664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7F8FF"/>
          </a:solidFill>
          <a:ln w="15240">
            <a:solidFill>
              <a:srgbClr val="5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48790" y="2011680"/>
            <a:ext cx="2907792" cy="7132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Thread Group 控制并发用户、循环和持续时间；Controller 按业务流程把请求组织成一棵树。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184198" y="3136392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BF8FF"/>
          </a:solidFill>
          <a:ln w="1524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790" y="3264408"/>
            <a:ext cx="2907792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运行时通常从上到下执行；Request 下挂的 Header、Timer、Extractor 会作为子节点参与这次请求。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367078" y="4315968"/>
            <a:ext cx="2834640" cy="21945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典型执行层级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549958" y="4718304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23110" y="4718304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5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Thread Group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49958" y="5157216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23110" y="5157216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49958" y="559612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E3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23110" y="5596128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6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HTTP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75638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93926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Header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99766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8054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Timer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323894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42182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Extractor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784398" y="5047488"/>
            <a:ext cx="0" cy="1097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398" y="5486400"/>
            <a:ext cx="0" cy="1097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784398" y="5925312"/>
            <a:ext cx="0" cy="914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22856" y="5990209"/>
            <a:ext cx="20574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705406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29534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753662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6118" y="6437376"/>
            <a:ext cx="109728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父节点组织流程，子节点补充请求配置或提取变量。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49358" y="6720840"/>
            <a:ext cx="4663440" cy="0"/>
          </a:xfrm>
          <a:prstGeom prst="line">
            <a:avLst/>
          </a:prstGeom>
          <a:noFill/>
          <a:ln w="27940">
            <a:solidFill>
              <a:srgbClr val="7A3D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DF659C5-0500-C64C-AA24-A98833A5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8" y="1536954"/>
            <a:ext cx="7040880" cy="4277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人工分析在分析什么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传统 JMeter 脚本生成方式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哪些字段需要参数化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342900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8386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请求之间的关联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6364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1850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07B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按测试目的调整结构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909828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5314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不同站点特殊处理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58368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9664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14884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t>① 参数化和关联</a:t>
            </a:r>
          </a:p>
        </p:txBody>
      </p:sp>
      <p:sp>
        <p:nvSpPr>
          <p:cNvPr id="16" name="Text 14"/>
          <p:cNvSpPr/>
          <p:nvPr/>
        </p:nvSpPr>
        <p:spPr>
          <a:xfrm>
            <a:off x="4334256" y="214884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t>② 测试压力容易被分散</a:t>
            </a:r>
          </a:p>
        </p:txBody>
      </p:sp>
      <p:sp>
        <p:nvSpPr>
          <p:cNvPr id="17" name="Text 15"/>
          <p:cNvSpPr/>
          <p:nvPr/>
        </p:nvSpPr>
        <p:spPr>
          <a:xfrm>
            <a:off x="7982712" y="2148840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sz="1550"/>
              <a:t>③ 同一功能在不同站点有差别</a:t>
            </a:r>
          </a:p>
        </p:txBody>
      </p:sp>
      <p:sp>
        <p:nvSpPr>
          <p:cNvPr id="18" name="Shape 16"/>
          <p:cNvSpPr/>
          <p:nvPr/>
        </p:nvSpPr>
        <p:spPr>
          <a:xfrm>
            <a:off x="4956048" y="2743200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84064" y="2852928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Login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24144" y="3236976"/>
            <a:ext cx="0" cy="347472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56048" y="3703320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813048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Home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24144" y="4187952"/>
            <a:ext cx="0" cy="347472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4645152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84064" y="4754880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Add Case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25696" y="5276088"/>
            <a:ext cx="269748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目标：多用户持续 Add Case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如果每轮都重新 Login，压力会被分散。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67928" y="28529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Report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01584" y="3401568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0" y="3511296"/>
            <a:ext cx="1161288" cy="6217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Site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template_id=A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997696" y="4443984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25712" y="4553712"/>
            <a:ext cx="1161288" cy="6217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Site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template_id=B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74736" y="5376672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页面、参数、业务逻辑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都可能不同</a:t>
            </a:r>
            <a:r>
              <a:rPr 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。</a:t>
            </a:r>
            <a:r>
              <a:rPr lang="zh-CN" alt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复用脚本也需要修改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传统流程真正耗时的部分，是“理解测试目标并做业务判断”。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923544" y="3504438"/>
            <a:ext cx="2688336" cy="1988820"/>
          </a:xfrm>
          <a:prstGeom prst="roundRect">
            <a:avLst/>
          </a:prstGeom>
          <a:noFill/>
          <a:ln w="14604">
            <a:solidFill>
              <a:srgbClr val="2F6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rtlCol="0" anchor="t"/>
          <a:lstStyle/>
          <a:p>
            <a:pPr algn="l"/>
            <a:r>
              <a:rPr sz="660" dirty="0" err="1">
                <a:solidFill>
                  <a:srgbClr val="1E1E1E"/>
                </a:solidFill>
                <a:latin typeface="Consolas"/>
              </a:rPr>
              <a:t>CONTACT:CONTACT:person_id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${Offender_person_id}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#|contact_id#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${Offender_contact_id}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#|location_id##␂person_id#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${Victim_person_id}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#|contact_id#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${Victim_contact_id}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#|location_id##␃
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NARRATIVE:NARRATIVE:note_id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${note_id}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#CASE␃
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STAFF:STAFF:case_staff_id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${case_staff_id}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#|staff_id#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${StaffID}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#␃
LOCATION::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location_id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${location_id}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#LOCATION␃
NIBRSNJS::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inv_njs_id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${inv_njs_id_1}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#␂inv_njs_id#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${inv_njs_id_2}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#␃
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NIBRSProperty</a:t>
            </a:r>
            <a:r>
              <a:rPr sz="660" dirty="0">
                <a:solidFill>
                  <a:srgbClr val="1E1E1E"/>
                </a:solidFill>
                <a:latin typeface="Consolas"/>
              </a:rPr>
              <a:t>::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property_id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${property_id}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#␃
VEHICLE::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vehicle_id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${vehicle_id}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#VEHICLE|case_vehicle_id#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${case_vehicle_id}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#␃
CASE::</a:t>
            </a:r>
            <a:r>
              <a:rPr sz="660" dirty="0" err="1">
                <a:solidFill>
                  <a:srgbClr val="1E1E1E"/>
                </a:solidFill>
                <a:latin typeface="Consolas"/>
              </a:rPr>
              <a:t>case_id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${case_id}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#|cfs_id#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${cfs_id}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#|location_id#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${location_id}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#CASE|org_id#</a:t>
            </a:r>
            <a:r>
              <a:rPr sz="660" b="1" dirty="0">
                <a:solidFill>
                  <a:srgbClr val="0046C8"/>
                </a:solidFill>
                <a:latin typeface="Consolas"/>
              </a:rPr>
              <a:t>${RegionID}</a:t>
            </a:r>
            <a:r>
              <a:rPr sz="660" dirty="0">
                <a:solidFill>
                  <a:srgbClr val="1E1E1E"/>
                </a:solidFill>
                <a:latin typeface="Consolas"/>
              </a:rPr>
              <a:t>#ORG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273907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dirty="0" err="1">
                <a:solidFill>
                  <a:srgbClr val="2D2D2D"/>
                </a:solidFill>
                <a:latin typeface="Microsoft YaHei"/>
              </a:rPr>
              <a:t>从前一个请求的响应中提取动态值</a:t>
            </a:r>
            <a:br>
              <a:rPr dirty="0"/>
            </a:br>
            <a:r>
              <a:rPr sz="1100" dirty="0" err="1">
                <a:solidFill>
                  <a:srgbClr val="2D2D2D"/>
                </a:solidFill>
                <a:latin typeface="Microsoft YaHei"/>
              </a:rPr>
              <a:t>供后续请求引用，保证请求链正确衔接</a:t>
            </a:r>
            <a:r>
              <a:rPr sz="1100" dirty="0">
                <a:solidFill>
                  <a:srgbClr val="2D2D2D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C12BF-7541-C461-27B8-4EF402A05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不同的数据，采用不同的参数化方式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参数化策略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EFF4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文件数据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5216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Username / Password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94944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CSV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761488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2F8F2"/>
          </a:solidFill>
          <a:ln w="2159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98648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动态随机参数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761488" y="202996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 Name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Driver License</a:t>
            </a:r>
          </a:p>
          <a:p>
            <a:pPr marL="0" indent="0" algn="ctr">
              <a:buNone/>
            </a:pPr>
            <a:endParaRPr lang="en-US" sz="1280" dirty="0">
              <a:solidFill>
                <a:srgbClr val="111111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280" dirty="0"/>
              <a:t>DL${__Random(100000,999999)}</a:t>
            </a:r>
          </a:p>
        </p:txBody>
      </p:sp>
      <p:sp>
        <p:nvSpPr>
          <p:cNvPr id="12" name="Shape 10"/>
          <p:cNvSpPr/>
          <p:nvPr/>
        </p:nvSpPr>
        <p:spPr>
          <a:xfrm>
            <a:off x="3017520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72384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Random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84064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FF5EA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21224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静态值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230368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Sex / Race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340096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07B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Fiddler 值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06640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7F2FF"/>
          </a:solidFill>
          <a:ln w="2159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关联参数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52944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person_id / case_id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7662672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17536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Response Extractor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729216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FF0EF"/>
          </a:solidFill>
          <a:ln w="2159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66376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特殊参数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875520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特殊编码 / 组合字段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9985248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40112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D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专门规则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106527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7552" y="418795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Person 示例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012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327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Username / Password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03327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F62E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CSV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269748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06324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3639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 Name / Driver License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313639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F7D3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Random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480060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6636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951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Sex / Race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523951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F07B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Captured Value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690372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6948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4263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Add Person Response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734263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6A35D9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Extract ${person_id}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900684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37260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44575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Report</a:t>
            </a:r>
            <a:endParaRPr lang="en-US" sz="1070" dirty="0"/>
          </a:p>
        </p:txBody>
      </p:sp>
      <p:sp>
        <p:nvSpPr>
          <p:cNvPr id="49" name="Text 47"/>
          <p:cNvSpPr/>
          <p:nvPr/>
        </p:nvSpPr>
        <p:spPr>
          <a:xfrm>
            <a:off x="944575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D84A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person_id=${person_id}</a:t>
            </a:r>
            <a:endParaRPr lang="en-US" sz="1010" dirty="0"/>
          </a:p>
        </p:txBody>
      </p:sp>
      <p:sp>
        <p:nvSpPr>
          <p:cNvPr id="50" name="Text 48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先判断数据属于哪一类，再决定“保留、随机、读取文件还是从响应中提取”。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Aug 27, 2026, 10_14_26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D13343-F140-33B7-EBE8-D77DC1AD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编写 SKILL 的经验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从实际使用中总结出的三条原则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1. 拆分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25112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2. 固化脚本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62672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27264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45552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3. 验证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" y="2304288"/>
            <a:ext cx="2514600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参照日常工作流，把复杂的大 Skill 拆成多个轻量化小 Skill，再按流程串联调用。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26464" y="3401568"/>
            <a:ext cx="160934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3511296"/>
            <a:ext cx="1353312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大 Skill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31136" y="3895344"/>
            <a:ext cx="0" cy="365760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4128" y="4416552"/>
            <a:ext cx="2404872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52144" y="4526280"/>
            <a:ext cx="2148840" cy="2834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小 Skill 1  →  小 Skill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30368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也可以按步骤拆成多个独立 Skill。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489704" y="2304288"/>
            <a:ext cx="2496312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如果输出可以由确定规则计算得到，就把它固化成脚本，减少大模型自由生成。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73752" y="3401568"/>
            <a:ext cx="1737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01768" y="3511296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已知元件属性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42432" y="3895344"/>
            <a:ext cx="0" cy="374904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4425696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82896" y="4535424"/>
            <a:ext cx="1709928" cy="2834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Generator Script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42432" y="4983480"/>
            <a:ext cx="0" cy="301752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65776" y="5394960"/>
            <a:ext cx="135331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92" y="5504688"/>
            <a:ext cx="1097280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JMX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01000" y="2304288"/>
            <a:ext cx="2514600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不要依赖模型“顺手自测”。Skill 自己应该明确包含验证步骤。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03336" y="3300984"/>
            <a:ext cx="1719072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31352" y="3410712"/>
            <a:ext cx="14630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262872" y="3776472"/>
            <a:ext cx="0" cy="356616"/>
          </a:xfrm>
          <a:prstGeom prst="line">
            <a:avLst/>
          </a:prstGeom>
          <a:noFill/>
          <a:ln w="22860">
            <a:solidFill>
              <a:srgbClr val="2F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03336" y="4288536"/>
            <a:ext cx="1719072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31352" y="4398264"/>
            <a:ext cx="14630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Validate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262872" y="4764024"/>
            <a:ext cx="0" cy="356616"/>
          </a:xfrm>
          <a:prstGeom prst="line">
            <a:avLst/>
          </a:prstGeom>
          <a:noFill/>
          <a:ln w="22860">
            <a:solidFill>
              <a:srgbClr val="2F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10728" y="5266944"/>
            <a:ext cx="23042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38744" y="5376672"/>
            <a:ext cx="2048256" cy="23774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发现问题 → 修正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 PL KaitiM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 PL KaitiM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527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 PL KaitiM GB</vt:lpstr>
      <vt:lpstr>Noto Sans CJK SC</vt:lpstr>
      <vt:lpstr>Noto Sans Mono CJK SC</vt:lpstr>
      <vt:lpstr>微软雅黑</vt:lpstr>
      <vt:lpstr>微软雅黑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jmeter-loader-skills</dc:title>
  <dc:subject>jmeter-loader-skills presentation</dc:subject>
  <dc:creator>OpenAI</dc:creator>
  <cp:lastModifiedBy>Yao Xue</cp:lastModifiedBy>
  <cp:revision>8</cp:revision>
  <dcterms:created xsi:type="dcterms:W3CDTF">2026-08-30T05:16:00Z</dcterms:created>
  <dcterms:modified xsi:type="dcterms:W3CDTF">2026-09-04T02:42:06Z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71400CFE91A54341B86B4000DBA2F2DC_12</vt:lpwstr>
  </property>
</Properties>
</file>